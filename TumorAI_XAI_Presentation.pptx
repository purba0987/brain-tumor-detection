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D9488"/>
                </a:solidFill>
              </a:defRPr>
            </a:pPr>
            <a:r>
              <a:t>TumorAI XAI</a:t>
            </a:r>
          </a:p>
          <a:p>
            <a:pPr>
              <a:spcBef>
                <a:spcPts val="1000"/>
              </a:spcBef>
              <a:defRPr sz="2400">
                <a:solidFill>
                  <a:srgbClr val="F1F5F9"/>
                </a:solidFill>
              </a:defRPr>
            </a:pPr>
            <a:r>
              <a:t>Explainable Brain MRI Analysis &amp; Longitudinal Intelligence</a:t>
            </a:r>
          </a:p>
          <a:p>
            <a:pPr>
              <a:spcBef>
                <a:spcPts val="2000"/>
              </a:spcBef>
              <a:defRPr sz="1300">
                <a:solidFill>
                  <a:srgbClr val="64748B"/>
                </a:solidFill>
              </a:defRPr>
            </a:pPr>
            <a:r>
              <a:t>Enterprise Diagnostic Decision-Support Platform with Multi-Model AI Ensemble, Spatial XAI, Epistemic Uncertainty Quantification, 3D Volumetric Segmentation &amp; FHIR R4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66928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0B981"/>
                </a:solidFill>
              </a:defRPr>
            </a:pPr>
            <a:r>
              <a:t>Version 2.5.0 | Medical AI &amp; Clinical Decision Support Suite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EXECUTIVE SUMMARY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Project Overview &amp; Core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36576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484632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🎯 Platform Overview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Enterprise-grade Explainable AI (XAI) clinical decision-support system for brain MRI diagnostics.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Automated multi-class classification: Glioma, Meningioma, Pituitary Tumor, and Healthy (No Tumor).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Integrated spatial explainability heatmaps (Grad-CAM, Grad-CAM++, LIME) and ROI boundary extraction.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Provides stochastic epistemic uncertainty quantification via Monte Carlo Dropout &amp; Shannon Entropy.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Grounded Clinical AI Copilot powered by Google Gemini LLM for diagnostic impression synthesis.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600200"/>
            <a:ext cx="493776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🚀 Key Clinical Objectives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Transparent Diagnostic AI: Replace 'black-box' predictions with spatial visual explanations and IoU/Dice metrics.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Longitudinal Volumetric Tracking: Compute 3D tumor volume (cm³) and measure growth velocity across patient visits.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Standardized Treatment Criteria: Categorize patient status using RANO / RECIST criteria (CR, PR, SD, PD).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Healthcare Interoperability: Export findings as standardized HL7 FHIR R4 payloads (DiagnosticReport &amp; Observation).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Enterprise Security: Enforce HIPAA/GDPR audit trails and short-lived (300s TTL) signed URLs for medical image assets.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BACKGROUND &amp; NEED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Clinical Problem Statement &amp; Key Gaps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36576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310896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1. Diagnostic Workload &amp; Fatigue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High volume of complex brain MRI scans creates diagnostic backlogs for radiologists.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Subtle tumor margins and early lesion growth are prone to intra/inter-observer variability.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Manual 3D volume estimation from 2D slices is time-consuming and subjective.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600200"/>
            <a:ext cx="310896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2. The Black-Box AI Trust Barrier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Standard deep learning classifiers lack spatial rationale for their predictions.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No visual feedback showing which image regions drove the diagnostic classification.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Absence of confidence bounds or uncertainty indicators during out-of-distribution or noisy scans.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80" y="1600200"/>
            <a:ext cx="310896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3. Disconnected Clinical Systems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Lack of integrated longitudinal growth tracking across historical MRI follow-ups.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Isolated AI tools fail to export standardized HL7 FHIR R4 records to HIS/EHR systems.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Security risks from unencrypted asset links and non-compliant audit mechanisms.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TECHNICAL DIAGRAM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System Architecture &amp; Layer Interaction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36576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4688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219456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1. Frontend Layer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Vanilla HTML5 / CSS3 / ES6 JS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Responsive SPA Dashboard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Orthogonal 3D Slice Viewer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Interactive XAI Canvas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Longitudinal Growth Chart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Gemini AI Copilot Chat UI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PDF Report Preview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463040"/>
            <a:ext cx="24688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1600200"/>
            <a:ext cx="219456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2. Backend REST API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Flask Web Framework (Python)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Flask-SQLAlchemy DB ORM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Flask-Login Auth Manager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PyDICOM Imaging Parser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ReportLab PDF Generator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SMTP Email Dispatcher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FHIR R4 Serializer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24688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600200"/>
            <a:ext cx="219456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3. AI &amp; XAI Engines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Weighted Ensemble Voting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VGG16 / ResNet50 / EfficientNet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MC Dropout Uncertainty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Grad-CAM / Grad-CAM++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LIME Superpixel Explainer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Contour 3D Segmentation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Pre-Inference Quality Audit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463040"/>
            <a:ext cx="24688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1600200"/>
            <a:ext cx="219456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4. Database &amp; Storage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Supabase PostgreSQL DB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Patients, Scans, Users Tables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Audit &amp; Chat Logs Tables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Private Buckets: mri-scans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Private Buckets: patient-reports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300s TTL Signed Storage URLs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Google Gemini 1.5 Flash API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SYSTEM PIPELINE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End-to-End Diagnostic &amp; Clinical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36576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8655" cy="621792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36192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172A"/>
                </a:solidFill>
              </a:defRPr>
            </a:pPr>
            <a:r>
              <a:t>1. MRI Upload: </a:t>
            </a:r>
            <a:r>
              <a:rPr b="0" sz="1100">
                <a:solidFill>
                  <a:srgbClr val="64748B"/>
                </a:solidFill>
              </a:rPr>
              <a:t>PNG / JPG / DICOM drag &amp; drop; DICOM tag parsing via PyDICOM.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57984"/>
            <a:ext cx="10728655" cy="62179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31136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172A"/>
                </a:solidFill>
              </a:defRPr>
            </a:pPr>
            <a:r>
              <a:t>2. Pre-Flight Audit: </a:t>
            </a:r>
            <a:r>
              <a:rPr b="0" sz="1100">
                <a:solidFill>
                  <a:srgbClr val="64748B"/>
                </a:solidFill>
              </a:rPr>
              <a:t>Quality audit check (Resolution, contrast, Laplacian blur, OOD score).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52928"/>
            <a:ext cx="10728655" cy="621792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172A"/>
                </a:solidFill>
              </a:defRPr>
            </a:pPr>
            <a:r>
              <a:t>3. AI Ensemble: </a:t>
            </a:r>
            <a:r>
              <a:rPr b="0" sz="1100">
                <a:solidFill>
                  <a:srgbClr val="64748B"/>
                </a:solidFill>
              </a:rPr>
              <a:t>Soft-weighted ensemble forward pass across VGG16, ResNet50 &amp; EfficientNetB0.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547872"/>
            <a:ext cx="10728655" cy="62179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621024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172A"/>
                </a:solidFill>
              </a:defRPr>
            </a:pPr>
            <a:r>
              <a:t>4. XAI &amp; 3D Volume: </a:t>
            </a:r>
            <a:r>
              <a:rPr b="0" sz="1100">
                <a:solidFill>
                  <a:srgbClr val="64748B"/>
                </a:solidFill>
              </a:rPr>
              <a:t>Grad-CAM / LIME heatmap generation, morphological contouring &amp; 3D volume calculation.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42816"/>
            <a:ext cx="10728655" cy="621792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315968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172A"/>
                </a:solidFill>
              </a:defRPr>
            </a:pPr>
            <a:r>
              <a:t>5. Reliability Analysis: </a:t>
            </a:r>
            <a:r>
              <a:rPr b="0" sz="1100">
                <a:solidFill>
                  <a:srgbClr val="64748B"/>
                </a:solidFill>
              </a:rPr>
              <a:t>MC Dropout 10-pass uncertainty variance, Shannon Entropy &amp; Consensus matrix.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937759"/>
            <a:ext cx="10728655" cy="62179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010912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172A"/>
                </a:solidFill>
              </a:defRPr>
            </a:pPr>
            <a:r>
              <a:t>6. Patient DB Storage: </a:t>
            </a:r>
            <a:r>
              <a:rPr b="0" sz="1100">
                <a:solidFill>
                  <a:srgbClr val="64748B"/>
                </a:solidFill>
              </a:rPr>
              <a:t>Save record to Supabase DB; upload assets to private bucket with 300s TTL URLs.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632703"/>
            <a:ext cx="10728655" cy="621792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705855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172A"/>
                </a:solidFill>
              </a:defRPr>
            </a:pPr>
            <a:r>
              <a:t>7. Synthesis &amp; Report: </a:t>
            </a:r>
            <a:r>
              <a:rPr b="0" sz="1100">
                <a:solidFill>
                  <a:srgbClr val="64748B"/>
                </a:solidFill>
              </a:rPr>
              <a:t>Gemini LLM clinical synthesis, FHIR export &amp; ReportLab PDF email dispatch.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COMPONENT BREAKDOWN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Backend Architecture: Modules &amp; Core Services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36576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484632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⚙️ AI &amp; Analytics Modules (`modules/`)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ensemble_engine.py: Soft-voting ensemble (50% VGG16, 25% ResNet50, 25% EfficientNetB0) &amp; model agreement matrix.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uncertainty_engine.py: MC Dropout (10 passes), Shannon Entropy H(Y|X), prediction variance calculation.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xai_engine.py &amp; xai_metrics.py: Grad-CAM (block5_conv3), Grad-CAM++, LIME superpixels, IoU &amp; Dice spatial scores.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segmentation_engine.py: Morphological contour extraction, 3D volume calculation (V = 4/3 π a b c), max linear diameter.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quality_checker.py: Pre-inference audit (Resolution, brightness, contrast, Laplacian blur threshold ≥45.0, OOD).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counterfactual_engine.py: Sensitivity perturbation analysis and decision boundary evaluation.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600200"/>
            <a:ext cx="493776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🏢 Business Services (`services/`)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patient_service.py &amp; study_service.py: Patient MRN registration, demographic tracking, clinical study creation.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dicom_service.py: Native .dcm header parsing &amp; windowing conversion to high-contrast array.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gemini_service.py: Google Gemini LLM API integration for automated diagnostic summary generation.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fhir_service.py: HL7 FHIR R4 JSON serialization (DiagnosticReport &amp; Observation resources).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report_service.py: Multi-page ReportLab PDF report generator with embedded maps &amp; signature block.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longitudinal_service.py: Growth velocity calculation &amp; RANO/RECIST treatment response categorization.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copilot_service.py: Patient-grounded conversational Q&amp;A assistant.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audit_service.py: Security and HIPAA/GDPR operational audit logging.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LONGITUDINAL INTELLIGENCE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Patient Management &amp; Longitudinal Growth Tracking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36576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484632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👤 Patient &amp; Visit Record Management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Unique Patient Record Indexing: Managed via unique MRN (Medical Record Number) and internal patient_id.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Comprehensive Demographics: Stores patient full name, age, gender, contact details, blood type, and clinical history.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Doctor Assignment: Tracks attending physician via created_by_doctor_id.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Multi-Visit Scan Linking: Groups multiple MRI scans under patient profile with visit_number, visit_time, visit_date, and next_checkup_date.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Archival Controls: Allows soft archival and restoration of past scan visits.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600200"/>
            <a:ext cx="493776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📈 Longitudinal Volumetric Growth Analytics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Volumetric Trajectory ΔV: Tracks volume deltas between baseline scan and current follow-up scan (ΔV = V_latest - V_baseline).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Monthly Growth Velocity: Calculates average percentage volume change per month (% / month).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RANO / RECIST Clinical Criteria Classification: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  • Complete Response (CR): 100% tumor volume regression.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  • Partial Response (PR): Volume shrinkage ≤ -50%.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  • Stable Disease (SD): Tumor volume within -50% to +25%.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  • Progressive Disease (PD): Volume growth &gt; +25% (Triggers High Risk Alert).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PREDICTION &amp; TRANSPARENCY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AI Model Ensemble &amp; XAI Visual Suite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36576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484632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🤖 Deep Learning &amp; Soft Ensemble Engine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Multi-Model Ensemble Backbones: VGG16 (Primary), ResNet50, and EfficientNetB0.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Weighted Soft Voting Formula: Probability_ensemble = 0.50 P_VGG16 + 0.25 P_ResNet50 + 0.25 P_EfficientNetB0.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Model Consensus Matrix: Tracks inter-model agreement (Unanimous 100%, Majority 66.7%, Disagreement &lt;66.7%).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Monte Carlo Dropout Uncertainty: 10 stochastic passes measure prediction variance and Shannon Entropy H(Y|X).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AI Reliability Index (0–100%): Synthesizes confidence (35%), XAI alignment (25%), quality score (20%), and consensus (20%).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600200"/>
            <a:ext cx="493776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🎨 Explainable AI (XAI) Analytics Suite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Grad-CAM Localization: Computes gradients at block5_conv3 to produce coarse spatial intensity heatmaps.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Grad-CAM++: Higher-order spatial gradients for fine-grained multi-lesion localization.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LIME Superpixel Attribution: Segments MRI into superpixels and fits local linear model to show positive/negative contributions.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Contour ROI Mask: OpenCV morphological contouring extracts precise 2D region of interest boundary.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Quantitative Spatial Validation: Computes IoU (Intersection over Union) and Dice Similarity Coefficient (DSC) between heatmaps and ROI.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WORKSPACE FEATURES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Key Clinical Workspace &amp; Radiologist Tools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36576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4846320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🔍 Dual MRI Comparison &amp; 3D Viewer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Side-by-side slice comparison between baseline &amp; follow-up scans.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Multi-Planar orthogonal rendering (Axial, Coronal, Sagittal).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Interactive 3D surface mesh rendering for geometric inspection.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600200"/>
            <a:ext cx="4937760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📝 Clinical Notes &amp; Status Workflow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Rich-text radiologist clinical note editor.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Status tracking: Pending Review, Reviewed, Verified.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Automated follow-up scheduling with next_checkup_date.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77639"/>
            <a:ext cx="512064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114799"/>
            <a:ext cx="4846320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⚡ Real-Time System Notifications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Automated alerts for model disagreement (&lt;66.7% consensus).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High uncertainty warning when MC Dropout variance &gt; threshold.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Progressive Disease alerts when tumor growth exceeds +25%.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77639"/>
            <a:ext cx="521208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4114799"/>
            <a:ext cx="4937760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🤖 AI Copilot &amp; Automated PDF Reports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Study-grounded Gemini LLM Assistant answering radiologist queries.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One-click ReportLab PDF generation with embedded maps &amp; signature.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SMTP email dispatcher sending PDFs directly to physicians.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DATA PERSISTENCE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Database Schema &amp; Patient-Study Data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36576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484632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🗄️ Relational Entity Schema (`models_db.py`)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users: id, username, email, phone, password_hash, role (Doctor/Radiologist/Patient), created_at.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patients: id, patient_id (MRN), full_name, age, gender, contact, created_by_doctor_id, created_at.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scans: id, user_id, patient_id, patient_name, visit_number, visit_time, next_checkup_date, image_path, heatmap_path, prediction, confidence, uncertainty_variance, iou_score, dice_score, clinical_status.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chat_logs: id, scan_id, user_id, sender, message, timestamp.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notifications: id, user_id, type, title, message, patient_id, scan_id, is_read, action_tab.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audit_logs: id, user_id, action, resource_type, resource_id, ip_address, timestamp.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600200"/>
            <a:ext cx="493776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🔗 Entity Relationships &amp; Storage Flow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User (Doctor) 1 : N Patient (Doctor creates &amp; manages patients).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Patient 1 : N Scan (Linked by patient_id across multi-visit follow-ups).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User 1 : N Scan (Doctor owns uploaded scan records).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Scan 1 : N ChatLog (Conversational context bound to specific scan).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User 1 : N Notification (User alerts &amp; system notifications).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Private Bucket Isolation: Raw scans &amp; heatmaps stored in mri-scans, reports in patient-reports.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Short-Lived Signed URLs: Access granted exclusively via backend-generated signed URLs (300s TTL).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COMPLIANCE &amp; GOVERNANCE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Security, Doctor Access Control &amp; Privacy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36576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310896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🔐 Access Control &amp; Auth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Role-Based Access Control (RBAC): Differentiates Doctor, Radiologist, and Patient capabilities.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Flask-Login Session Management with secure cookie handling.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Bcrypt password hashing (generate_password_hash / check_password_hash).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600200"/>
            <a:ext cx="310896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🛡️ Asset Protection &amp; TTL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Supabase Private Buckets (mri-scans, patient-reports) prevent public HTTP access.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Short-Lived Signed URLs with strict 300-second (5-minute) expiration TTL.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Backend Credential Isolation: API keys and database credentials strictly server-side.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80" y="1600200"/>
            <a:ext cx="310896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📋 Audit &amp; FHIR Standards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HIPAA/GDPR Audit Logging (audit_logs table): Records user ID, IP address, resource ID, action, and timestamp.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HL7 FHIR R4 Interoperability: Generates anonymized/sanitized FHIR DiagnosticReport &amp; Observation payloads.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Zero raw DICOM tag leakage to public clients.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CONCLUSION &amp; ROADMAP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Results, System Limitations &amp; 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36576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310896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🏆 Key Benchmark Results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High Diagnostic Performance across Glioma, Meningioma, Pituitary, and No Tumor classes.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Robust Soft-Voting Ensemble consensus reducing single-model false positives.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High IoU &amp; Dice spatial alignment between Grad-CAM heatmaps and contour ROI.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Sub-second inference time per scan with real-time UI feedback.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600200"/>
            <a:ext cx="310896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⚠️ Current System Limitations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Single-Slice 2D Input: Currently processes individual 2D axial/coronal slices rather than full 3D NIfTI volumes.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Scanner Domain Shift: Performance depends on standard MRI slice contrast and pixel quality.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Requires PyDICOM windowing tuning for non-standard vendor DICOM files.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80" y="1600200"/>
            <a:ext cx="310896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🔮 Future Development Scope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3D Volumetric NIfTI Support: Process full multi-slice 3D MRI series natively.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PACS Server Integration: Native PACS server integration via DICOM web protocols (C-STORE, C-FIND, WADO-RS).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Multi-Center Federated Learning: Train ensemble models across multi-hospital data without centralizing patient records.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